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3C"/>
                </a:solidFill>
                <a:latin typeface="Courier New"/>
              </a:defRPr>
            </a:pPr>
            <a:r>
              <a:t>1UP</a:t>
            </a:r>
            <a:br/>
            <a:r>
              <a:t>00256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91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E600"/>
                </a:solidFill>
                <a:latin typeface="Courier New"/>
              </a:defRPr>
            </a:pPr>
            <a:r>
              <a:t>HI-SCORE</a:t>
            </a:r>
            <a:br/>
            <a:r>
              <a:t>99999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5FF"/>
                </a:solidFill>
                <a:latin typeface="Courier New"/>
              </a:defRPr>
            </a:pPr>
            <a:r>
              <a:t>2UP</a:t>
            </a:r>
            <a:br/>
            <a:r>
              <a:t>00000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ourier New"/>
              </a:defRPr>
            </a:pPr>
            <a:r>
              <a:t>CIVIC PRIORITIES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E600"/>
                </a:solidFill>
                <a:latin typeface="Courier New"/>
              </a:defRPr>
            </a:pPr>
            <a:r>
              <a:t>EVIDENCE-GATED CIVIC PLANNING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003C"/>
                </a:solidFill>
                <a:latin typeface="Courier New"/>
              </a:defRPr>
            </a:pPr>
            <a:r>
              <a:t>[ PRESS START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46704" y="5486400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19856" y="5486400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93008" y="5486400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66160" y="5486400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73552" y="5559552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46704" y="5559552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19856" y="5559552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93008" y="5559552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66160" y="5559552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39312" y="5559552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0" y="5632704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73552" y="5632704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46704" y="5632704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5705856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73552" y="5705856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46704" y="5705856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19856" y="5705856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93008" y="5705856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566160" y="5705856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39312" y="5705856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6704" y="5779008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19856" y="5779008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93008" y="5779008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566160" y="5779008"/>
            <a:ext cx="73152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34256" y="5705856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407408" y="5705856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34256" y="5779008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07408" y="5779008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48656" y="5705856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21808" y="5705856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48656" y="5779008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321808" y="5779008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63056" y="5705856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36208" y="5705856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63056" y="5779008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36208" y="5779008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077456" y="5705856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50608" y="5705856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077456" y="5779008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50608" y="5779008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18704" y="5486400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91856" y="5486400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065008" y="5486400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38160" y="5486400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845552" y="5559552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918704" y="5559552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991856" y="5559552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065008" y="5559552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38160" y="5559552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211312" y="5559552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772400" y="5632704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845552" y="5632704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918704" y="5632704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991856" y="5632704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65008" y="5632704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138160" y="5632704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211312" y="5632704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84464" y="5632704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5705856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5552" y="5705856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18704" y="5705856"/>
            <a:ext cx="73152" cy="73152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91856" y="5705856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65008" y="5705856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38160" y="5705856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11312" y="5705856"/>
            <a:ext cx="73152" cy="73152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84464" y="5705856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772400" y="5779008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845552" y="5779008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918704" y="5779008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991856" y="5779008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65008" y="5779008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138160" y="5779008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211312" y="5779008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284464" y="5779008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772400" y="5852160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845552" y="5852160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18704" y="5852160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91856" y="5852160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065008" y="5852160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138160" y="5852160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211312" y="5852160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284464" y="5852160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772400" y="5925312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918704" y="5925312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991856" y="5925312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138160" y="5925312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211312" y="5925312"/>
            <a:ext cx="731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3C"/>
                </a:solidFill>
                <a:latin typeface="Courier New"/>
              </a:defRPr>
            </a:pPr>
            <a:r>
              <a:t>1UP</a:t>
            </a:r>
            <a:br/>
            <a:r>
              <a:t>00256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91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E600"/>
                </a:solidFill>
                <a:latin typeface="Courier New"/>
              </a:defRPr>
            </a:pPr>
            <a:r>
              <a:t>HI-SCORE</a:t>
            </a:r>
            <a:br/>
            <a:r>
              <a:t>99999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5FF"/>
                </a:solidFill>
                <a:latin typeface="Courier New"/>
              </a:defRPr>
            </a:pPr>
            <a:r>
              <a:t>2UP</a:t>
            </a:r>
            <a:br/>
            <a:r>
              <a:t>00000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E600"/>
                </a:solidFill>
                <a:latin typeface="Courier New"/>
              </a:defRPr>
            </a:pPr>
            <a:r>
              <a:t>&gt; STAGE: THE PROBLEM_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urier New"/>
              </a:defRPr>
            </a:pPr>
            <a:r>
              <a:t>Municipal spending decisions lack player input.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solidFill>
            <a:srgbClr val="111111"/>
          </a:solidFill>
          <a:ln w="38100">
            <a:solidFill>
              <a:srgbClr val="FF0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003C"/>
                </a:solidFill>
                <a:latin typeface="Courier New"/>
              </a:defRPr>
            </a:pPr>
            <a:r>
              <a:t>P1: LINGUISTIC SILOS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057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Citizens complain in Tamil, Hindi, Portuguese. Data rots.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2971800"/>
            <a:ext cx="10698480" cy="914400"/>
          </a:xfrm>
          <a:prstGeom prst="rect">
            <a:avLst/>
          </a:prstGeom>
          <a:solidFill>
            <a:srgbClr val="111111"/>
          </a:solidFill>
          <a:ln w="381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154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E600"/>
                </a:solidFill>
                <a:latin typeface="Courier New"/>
              </a:defRPr>
            </a:pPr>
            <a:r>
              <a:t>P2: GUT-FEELING SPEND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200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Decisions rely on intuition, not infrastructure gap metrics.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solidFill>
            <a:srgbClr val="111111"/>
          </a:solidFill>
          <a:ln w="381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ourier New"/>
              </a:defRPr>
            </a:pPr>
            <a:r>
              <a:t>P3: PENALIZING NEGLECT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343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Missing paperwork = zero score. Neglected regions fall silently.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257800"/>
            <a:ext cx="10698480" cy="914400"/>
          </a:xfrm>
          <a:prstGeom prst="rect">
            <a:avLst/>
          </a:prstGeom>
          <a:solidFill>
            <a:srgbClr val="111111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440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urier New"/>
              </a:defRPr>
            </a:pPr>
            <a:r>
              <a:t>P4: NO ACCOUNTABILITY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486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No formula. No audit trail. No way to explain the final score.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25328" y="5669280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680192" y="5669280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735056" y="5669280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789920" y="5669280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570464" y="5724144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25328" y="5724144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680192" y="5724144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35056" y="5724144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789920" y="5724144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844784" y="5724144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515600" y="5779008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70464" y="5779008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25328" y="5779008"/>
            <a:ext cx="54864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680192" y="5779008"/>
            <a:ext cx="54864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735056" y="5779008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789920" y="5779008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844784" y="5779008"/>
            <a:ext cx="54864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899648" y="5779008"/>
            <a:ext cx="54864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515600" y="5833872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570464" y="5833872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625328" y="5833872"/>
            <a:ext cx="54864" cy="54864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680192" y="5833872"/>
            <a:ext cx="54864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735056" y="5833872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789920" y="5833872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844784" y="5833872"/>
            <a:ext cx="54864" cy="54864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899648" y="5833872"/>
            <a:ext cx="54864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15600" y="5888736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570464" y="5888736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625328" y="5888736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680192" y="5888736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35056" y="5888736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789920" y="5888736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844784" y="5888736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899648" y="5888736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515600" y="5943600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570464" y="5943600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625328" y="5943600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680192" y="5943600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735056" y="5943600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789920" y="5943600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844784" y="5943600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899648" y="5943600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515600" y="5998464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625328" y="5998464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680192" y="5998464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789920" y="5998464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844784" y="5998464"/>
            <a:ext cx="54864" cy="54864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3C"/>
                </a:solidFill>
                <a:latin typeface="Courier New"/>
              </a:defRPr>
            </a:pPr>
            <a:r>
              <a:t>1UP</a:t>
            </a:r>
            <a:br/>
            <a:r>
              <a:t>00256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91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E600"/>
                </a:solidFill>
                <a:latin typeface="Courier New"/>
              </a:defRPr>
            </a:pPr>
            <a:r>
              <a:t>HI-SCORE</a:t>
            </a:r>
            <a:br/>
            <a:r>
              <a:t>99999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5FF"/>
                </a:solidFill>
                <a:latin typeface="Courier New"/>
              </a:defRPr>
            </a:pPr>
            <a:r>
              <a:t>2UP</a:t>
            </a:r>
            <a:br/>
            <a:r>
              <a:t>00000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E600"/>
                </a:solidFill>
                <a:latin typeface="Courier New"/>
              </a:defRPr>
            </a:pPr>
            <a:r>
              <a:t>&gt; STAGE: THE SOLUTION_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1645920"/>
            <a:ext cx="3383280" cy="4572000"/>
          </a:xfrm>
          <a:prstGeom prst="rect">
            <a:avLst/>
          </a:prstGeom>
          <a:solidFill>
            <a:srgbClr val="111111"/>
          </a:solidFill>
          <a:ln w="38100">
            <a:solidFill>
              <a:srgbClr val="FF0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840" y="1920240"/>
            <a:ext cx="548640" cy="548640"/>
          </a:xfrm>
          <a:prstGeom prst="ellipse">
            <a:avLst/>
          </a:prstGeom>
          <a:solidFill>
            <a:srgbClr val="FF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11111"/>
                </a:solidFill>
                <a:latin typeface="Courier New"/>
              </a:defRPr>
            </a:pPr>
            <a: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27432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003C"/>
                </a:solidFill>
                <a:latin typeface="Courier New"/>
              </a:defRPr>
            </a:pPr>
            <a:r>
              <a:t>DEMAND -&gt; SCORES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6576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Text/voice/bulk imports processed in Tamil, Hindi, Portuguese to build priority scores.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1645920"/>
            <a:ext cx="3383280" cy="4572000"/>
          </a:xfrm>
          <a:prstGeom prst="rect">
            <a:avLst/>
          </a:prstGeom>
          <a:solidFill>
            <a:srgbClr val="111111"/>
          </a:solidFill>
          <a:ln w="381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63440" y="1920240"/>
            <a:ext cx="548640" cy="548640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11111"/>
                </a:solidFill>
                <a:latin typeface="Courier New"/>
              </a:defRPr>
            </a:pPr>
            <a: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27432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600"/>
                </a:solidFill>
                <a:latin typeface="Courier New"/>
              </a:defRPr>
            </a:pPr>
            <a:r>
              <a:t>OPEN FORMULA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6576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S = 100 * [w*D + (1-w)*G]. Transparent math. Change weight, watch rankings flip.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1645920"/>
            <a:ext cx="3383280" cy="4572000"/>
          </a:xfrm>
          <a:prstGeom prst="rect">
            <a:avLst/>
          </a:prstGeom>
          <a:solidFill>
            <a:srgbClr val="111111"/>
          </a:solidFill>
          <a:ln w="381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21040" y="1920240"/>
            <a:ext cx="548640" cy="5486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11111"/>
                </a:solidFill>
                <a:latin typeface="Courier New"/>
              </a:defRPr>
            </a:pPr>
            <a: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7432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  <a:latin typeface="Courier New"/>
              </a:defRPr>
            </a:pPr>
            <a:r>
              <a:t>EVIDENCE BLOCKING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6576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No investment plan? Region is BLOCKED, not scored zero. Exposes missing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3C"/>
                </a:solidFill>
                <a:latin typeface="Courier New"/>
              </a:defRPr>
            </a:pPr>
            <a:r>
              <a:t>1UP</a:t>
            </a:r>
            <a:br/>
            <a:r>
              <a:t>00256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91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E600"/>
                </a:solidFill>
                <a:latin typeface="Courier New"/>
              </a:defRPr>
            </a:pPr>
            <a:r>
              <a:t>HI-SCORE</a:t>
            </a:r>
            <a:br/>
            <a:r>
              <a:t>99999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5FF"/>
                </a:solidFill>
                <a:latin typeface="Courier New"/>
              </a:defRPr>
            </a:pPr>
            <a:r>
              <a:t>2UP</a:t>
            </a:r>
            <a:br/>
            <a:r>
              <a:t>00000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E600"/>
                </a:solidFill>
                <a:latin typeface="Courier New"/>
              </a:defRPr>
            </a:pPr>
            <a:r>
              <a:t>&gt; STAGE: HOW IT WORKS_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286000"/>
            <a:ext cx="2468880" cy="2743200"/>
          </a:xfrm>
          <a:prstGeom prst="rect">
            <a:avLst/>
          </a:prstGeom>
          <a:solidFill>
            <a:srgbClr val="111111"/>
          </a:solidFill>
          <a:ln w="38100">
            <a:solidFill>
              <a:srgbClr val="FF0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003C"/>
                </a:solidFill>
                <a:latin typeface="Courier New"/>
              </a:defRPr>
            </a:pPr>
            <a:r>
              <a:t>INTAKE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6576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Voice/Text/Import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ourier New"/>
              </a:defRPr>
            </a:pPr>
            <a: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2286000"/>
            <a:ext cx="2468880" cy="2743200"/>
          </a:xfrm>
          <a:prstGeom prst="rect">
            <a:avLst/>
          </a:prstGeom>
          <a:solidFill>
            <a:srgbClr val="111111"/>
          </a:solidFill>
          <a:ln w="381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E600"/>
                </a:solidFill>
                <a:latin typeface="Courier New"/>
              </a:defRPr>
            </a:pPr>
            <a:r>
              <a:t>EXTRACT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36576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AI + Human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ourier New"/>
              </a:defRPr>
            </a:pPr>
            <a:r>
              <a:t>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286000"/>
            <a:ext cx="2468880" cy="2743200"/>
          </a:xfrm>
          <a:prstGeom prst="rect">
            <a:avLst/>
          </a:prstGeom>
          <a:solidFill>
            <a:srgbClr val="111111"/>
          </a:solidFill>
          <a:ln w="381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Courier New"/>
              </a:defRPr>
            </a:pPr>
            <a:r>
              <a:t>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6576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Demand + Gap + Budget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ourier New"/>
              </a:defRPr>
            </a:pPr>
            <a:r>
              <a:t>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2286000"/>
            <a:ext cx="2468880" cy="2743200"/>
          </a:xfrm>
          <a:prstGeom prst="rect">
            <a:avLst/>
          </a:prstGeom>
          <a:solidFill>
            <a:srgbClr val="111111"/>
          </a:solidFill>
          <a:ln w="381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E80"/>
                </a:solidFill>
                <a:latin typeface="Courier New"/>
              </a:defRPr>
            </a:pPr>
            <a:r>
              <a:t>AUDIT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36576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Crypto Hash + Sign-off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E600"/>
                </a:solidFill>
                <a:latin typeface="Courier New"/>
              </a:defRPr>
            </a:pPr>
            <a:r>
              <a:t>NO ACTION WITHOUT HUMAN CONFIRMATION.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3C"/>
                </a:solidFill>
                <a:latin typeface="Courier New"/>
              </a:defRPr>
            </a:pPr>
            <a:r>
              <a:t>1UP</a:t>
            </a:r>
            <a:br/>
            <a:r>
              <a:t>00256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91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E600"/>
                </a:solidFill>
                <a:latin typeface="Courier New"/>
              </a:defRPr>
            </a:pPr>
            <a:r>
              <a:t>HI-SCORE</a:t>
            </a:r>
            <a:br/>
            <a:r>
              <a:t>99999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5FF"/>
                </a:solidFill>
                <a:latin typeface="Courier New"/>
              </a:defRPr>
            </a:pPr>
            <a:r>
              <a:t>2UP</a:t>
            </a:r>
            <a:br/>
            <a:r>
              <a:t>00000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E600"/>
                </a:solidFill>
                <a:latin typeface="Courier New"/>
              </a:defRPr>
            </a:pPr>
            <a:r>
              <a:t>&gt; STAGE: LIVE SCORING: VS MODE_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ourier New"/>
              </a:defRPr>
            </a:pPr>
            <a:r>
              <a:t>S = 100 * [ w * D + (1 - w) * G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286000"/>
            <a:ext cx="4754880" cy="2743200"/>
          </a:xfrm>
          <a:prstGeom prst="rect">
            <a:avLst/>
          </a:prstGeom>
          <a:solidFill>
            <a:srgbClr val="111111"/>
          </a:solidFill>
          <a:ln w="381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468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ourier New"/>
              </a:defRPr>
            </a:pPr>
            <a:r>
              <a:t>PLAYER 1 (w=0.5)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237744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26280" y="237744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37744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17720" y="237744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242316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80560" y="242316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26280" y="242316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0" y="242316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17720" y="242316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63440" y="242316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0" y="246888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34840" y="246888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80560" y="2468880"/>
            <a:ext cx="4572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26280" y="2468880"/>
            <a:ext cx="4572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246888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17720" y="246888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63440" y="2468880"/>
            <a:ext cx="4572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09160" y="2468880"/>
            <a:ext cx="4572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89120" y="251460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34840" y="251460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80560" y="2514600"/>
            <a:ext cx="45720" cy="4572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26280" y="2514600"/>
            <a:ext cx="4572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0" y="251460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17720" y="251460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63440" y="2514600"/>
            <a:ext cx="45720" cy="4572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709160" y="2514600"/>
            <a:ext cx="4572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89120" y="256032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34840" y="256032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80560" y="256032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26280" y="256032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2000" y="256032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617720" y="256032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663440" y="256032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709160" y="256032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89120" y="260604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434840" y="260604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480560" y="260604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26280" y="260604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572000" y="260604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617720" y="260604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63440" y="260604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709160" y="260604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389120" y="265176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480560" y="265176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26280" y="265176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617720" y="265176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663440" y="265176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4400" y="301752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Kovilpatti North</a:t>
            </a:r>
            <a:br/>
            <a:r>
              <a:t>D=0.30  G=0.80  SCORE: 55.0</a:t>
            </a:r>
            <a:br/>
            <a:br/>
            <a:r>
              <a:t>Sankarankovil East</a:t>
            </a:r>
            <a:br/>
            <a:r>
              <a:t>D=0.60  G=0.30  SCORE: 45.0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60720" y="34747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003C"/>
                </a:solidFill>
                <a:latin typeface="Courier New"/>
              </a:defRPr>
            </a:pPr>
            <a:r>
              <a:t>VS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766560" y="2286000"/>
            <a:ext cx="4754880" cy="2743200"/>
          </a:xfrm>
          <a:prstGeom prst="rect">
            <a:avLst/>
          </a:prstGeom>
          <a:solidFill>
            <a:srgbClr val="111111"/>
          </a:solidFill>
          <a:ln w="38100">
            <a:solidFill>
              <a:srgbClr val="FF0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49440" y="2468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003C"/>
                </a:solidFill>
                <a:latin typeface="Courier New"/>
              </a:defRPr>
            </a:pPr>
            <a:r>
              <a:t>PLAYER 2 (w=0.8)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515600" y="237744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561320" y="237744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607040" y="237744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52760" y="237744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469880" y="242316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515600" y="242316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561320" y="242316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607040" y="242316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52760" y="242316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698480" y="242316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424160" y="246888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469880" y="246888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515600" y="2468880"/>
            <a:ext cx="4572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561320" y="2468880"/>
            <a:ext cx="4572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607040" y="246888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652760" y="246888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698480" y="2468880"/>
            <a:ext cx="4572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744200" y="2468880"/>
            <a:ext cx="4572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424160" y="251460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469880" y="251460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515600" y="251460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561320" y="2514600"/>
            <a:ext cx="4572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607040" y="251460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652760" y="251460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698480" y="2514600"/>
            <a:ext cx="4572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744200" y="2514600"/>
            <a:ext cx="4572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424160" y="256032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469880" y="256032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515600" y="256032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561320" y="256032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607040" y="256032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652760" y="256032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698480" y="256032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744200" y="256032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424160" y="260604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469880" y="260604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515600" y="260604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561320" y="260604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607040" y="260604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652760" y="260604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698480" y="260604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744200" y="260604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424160" y="265176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515600" y="265176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561320" y="265176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652760" y="265176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698480" y="2651760"/>
            <a:ext cx="45720" cy="4572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949440" y="301752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Kovilpatti North</a:t>
            </a:r>
            <a:br/>
            <a:r>
              <a:t>SCORE: 40.0</a:t>
            </a:r>
            <a:br/>
            <a:br/>
            <a:r>
              <a:t>Sankarankovil East</a:t>
            </a:r>
            <a:br/>
            <a:r>
              <a:t>SCORE: 54.0   &lt;-- FLIP!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solidFill>
            <a:srgbClr val="111111"/>
          </a:solidFill>
          <a:ln w="381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14400" y="548640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E600"/>
                </a:solidFill>
                <a:latin typeface="Arial"/>
              </a:defRPr>
            </a:pPr>
            <a:r>
              <a:t>RANK REVERSAL DETECTED: Agentic Co-Pilot automatically flags this.</a:t>
            </a:r>
            <a:br/>
            <a:r>
              <a:t>Missing investment plan? Region is BLOCKED completely.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3C"/>
                </a:solidFill>
                <a:latin typeface="Courier New"/>
              </a:defRPr>
            </a:pPr>
            <a:r>
              <a:t>1UP</a:t>
            </a:r>
            <a:br/>
            <a:r>
              <a:t>00256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91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E600"/>
                </a:solidFill>
                <a:latin typeface="Courier New"/>
              </a:defRPr>
            </a:pPr>
            <a:r>
              <a:t>HI-SCORE</a:t>
            </a:r>
            <a:br/>
            <a:r>
              <a:t>99999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5FF"/>
                </a:solidFill>
                <a:latin typeface="Courier New"/>
              </a:defRPr>
            </a:pPr>
            <a:r>
              <a:t>2UP</a:t>
            </a:r>
            <a:br/>
            <a:r>
              <a:t>00000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E600"/>
                </a:solidFill>
                <a:latin typeface="Courier New"/>
              </a:defRPr>
            </a:pPr>
            <a:r>
              <a:t>&gt; STAGE: CHOOSE YOUR REGION_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urier New"/>
              </a:defRPr>
            </a:pPr>
            <a:r>
              <a:t>Three configs. Three languages. One API contract.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2103120"/>
            <a:ext cx="3291840" cy="3200400"/>
          </a:xfrm>
          <a:prstGeom prst="rect">
            <a:avLst/>
          </a:prstGeom>
          <a:solidFill>
            <a:srgbClr val="111111"/>
          </a:solidFill>
          <a:ln w="38100">
            <a:solidFill>
              <a:srgbClr val="FF0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003C"/>
                </a:solidFill>
                <a:latin typeface="Courier New"/>
              </a:defRPr>
            </a:pPr>
            <a:r>
              <a:t>IN-TN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urier New"/>
              </a:defRPr>
            </a:pPr>
            <a:r>
              <a:t>Tamil Nadu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Tamil / INR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103120"/>
            <a:ext cx="3291840" cy="3200400"/>
          </a:xfrm>
          <a:prstGeom prst="rect">
            <a:avLst/>
          </a:prstGeom>
          <a:solidFill>
            <a:srgbClr val="111111"/>
          </a:solidFill>
          <a:ln w="381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E600"/>
                </a:solidFill>
                <a:latin typeface="Courier New"/>
              </a:defRPr>
            </a:pPr>
            <a:r>
              <a:t>IN-UP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urier New"/>
              </a:defRPr>
            </a:pPr>
            <a:r>
              <a:t>Uttar Pradesh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Hindi / INR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2103120"/>
            <a:ext cx="3291840" cy="3200400"/>
          </a:xfrm>
          <a:prstGeom prst="rect">
            <a:avLst/>
          </a:prstGeom>
          <a:solidFill>
            <a:srgbClr val="111111"/>
          </a:solidFill>
          <a:ln w="381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5FF"/>
                </a:solidFill>
                <a:latin typeface="Courier New"/>
              </a:defRPr>
            </a:pPr>
            <a:r>
              <a:t>BR-PE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urier New"/>
              </a:defRPr>
            </a:pPr>
            <a:r>
              <a:t>Pernambuco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Portuguese / BRL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3C"/>
                </a:solidFill>
                <a:latin typeface="Courier New"/>
              </a:defRPr>
            </a:pPr>
            <a:r>
              <a:t>1UP</a:t>
            </a:r>
            <a:br/>
            <a:r>
              <a:t>00256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91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E600"/>
                </a:solidFill>
                <a:latin typeface="Courier New"/>
              </a:defRPr>
            </a:pPr>
            <a:r>
              <a:t>HI-SCORE</a:t>
            </a:r>
            <a:br/>
            <a:r>
              <a:t>99999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5FF"/>
                </a:solidFill>
                <a:latin typeface="Courier New"/>
              </a:defRPr>
            </a:pPr>
            <a:r>
              <a:t>2UP</a:t>
            </a:r>
            <a:br/>
            <a:r>
              <a:t>00000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E600"/>
                </a:solidFill>
                <a:latin typeface="Courier New"/>
              </a:defRPr>
            </a:pPr>
            <a:r>
              <a:t>&gt; STAGE: AI &amp; EXPLAINABILITY_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1828800"/>
            <a:ext cx="5029200" cy="3200400"/>
          </a:xfrm>
          <a:prstGeom prst="rect">
            <a:avLst/>
          </a:prstGeom>
          <a:solidFill>
            <a:srgbClr val="111111"/>
          </a:solidFill>
          <a:ln w="381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600"/>
                </a:solidFill>
                <a:latin typeface="Courier New"/>
              </a:defRPr>
            </a:pPr>
            <a:r>
              <a:t>CATEGORY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27432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Gemini extracts category + Unicode evidence spans.</a:t>
            </a:r>
            <a:br/>
            <a:br/>
            <a:r>
              <a:t>Fallback: keyword matcher (labeled 'local-fallback'). Honest degradation.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828800"/>
            <a:ext cx="5029200" cy="3200400"/>
          </a:xfrm>
          <a:prstGeom prst="rect">
            <a:avLst/>
          </a:prstGeom>
          <a:solidFill>
            <a:srgbClr val="111111"/>
          </a:solidFill>
          <a:ln w="381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  <a:latin typeface="Courier New"/>
              </a:defRPr>
            </a:pPr>
            <a:r>
              <a:t>RATIONALE GENERATION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7432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Gemini writes evidence-grounded explanation.</a:t>
            </a:r>
            <a:br/>
            <a:br/>
            <a:r>
              <a:t>Fails -&gt; deterministic template takes over. No invented numbers.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3C"/>
                </a:solidFill>
                <a:latin typeface="Courier New"/>
              </a:defRPr>
            </a:pPr>
            <a:r>
              <a:t>1UP</a:t>
            </a:r>
            <a:br/>
            <a:r>
              <a:t>00256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91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E600"/>
                </a:solidFill>
                <a:latin typeface="Courier New"/>
              </a:defRPr>
            </a:pPr>
            <a:r>
              <a:t>HI-SCORE</a:t>
            </a:r>
            <a:br/>
            <a:r>
              <a:t>99999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5FF"/>
                </a:solidFill>
                <a:latin typeface="Courier New"/>
              </a:defRPr>
            </a:pPr>
            <a:r>
              <a:t>2UP</a:t>
            </a:r>
            <a:br/>
            <a:r>
              <a:t>00000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E600"/>
                </a:solidFill>
                <a:latin typeface="Courier New"/>
              </a:defRPr>
            </a:pPr>
            <a:r>
              <a:t>&gt; STAGE: GOVERNANCE &amp; AUDIT_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003C"/>
                </a:solidFill>
                <a:latin typeface="Courier New"/>
              </a:defRPr>
            </a:pPr>
            <a:r>
              <a:t>ROLE-BASED ACCESS: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+ Planners: endorse, score</a:t>
            </a:r>
            <a:br/>
            <a:r>
              <a:t>+ Auditors: sensitivity, memos</a:t>
            </a:r>
            <a:br/>
            <a:r>
              <a:t>+ Citizens: submit,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E600"/>
                </a:solidFill>
                <a:latin typeface="Courier New"/>
              </a:defRPr>
            </a:pPr>
            <a:r>
              <a:t>STAGED REVIEW: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+ DRAFT -&gt; human confirm -&gt; counted</a:t>
            </a:r>
            <a:br/>
            <a:r>
              <a:t>+ Plan gets revision number</a:t>
            </a:r>
            <a:br/>
            <a:r>
              <a:t>+ Stale revision -&gt; 409 Conflict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solidFill>
            <a:srgbClr val="111111"/>
          </a:solidFill>
          <a:ln w="381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212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ourier New"/>
              </a:defRPr>
            </a:pPr>
            <a:r>
              <a:t>SECURITY LOG:</a:t>
            </a:r>
            <a:br/>
            <a:r>
              <a:t>SHA-256 evidence hashing * Cryptographic reviewer attribution</a:t>
            </a:r>
            <a:br/>
            <a:r>
              <a:t>Immutable audit snapshots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3C"/>
                </a:solidFill>
                <a:latin typeface="Courier New"/>
              </a:defRPr>
            </a:pPr>
            <a:r>
              <a:t>1UP</a:t>
            </a:r>
            <a:br/>
            <a:r>
              <a:t>00256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91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E600"/>
                </a:solidFill>
                <a:latin typeface="Courier New"/>
              </a:defRPr>
            </a:pPr>
            <a:r>
              <a:t>HI-SCORE</a:t>
            </a:r>
            <a:br/>
            <a:r>
              <a:t>99999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5FF"/>
                </a:solidFill>
                <a:latin typeface="Courier New"/>
              </a:defRPr>
            </a:pPr>
            <a:r>
              <a:t>2UP</a:t>
            </a:r>
            <a:br/>
            <a:r>
              <a:t>00000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E600"/>
                </a:solidFill>
                <a:latin typeface="Courier New"/>
              </a:defRPr>
            </a:pPr>
            <a:r>
              <a:t>&gt; STAGE: SYSTEM ARCHITECTURE_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1645920"/>
            <a:ext cx="5029200" cy="822960"/>
          </a:xfrm>
          <a:prstGeom prst="rect">
            <a:avLst/>
          </a:prstGeom>
          <a:solidFill>
            <a:srgbClr val="111111"/>
          </a:solidFill>
          <a:ln w="38100">
            <a:solidFill>
              <a:srgbClr val="FF0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17830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003C"/>
                </a:solidFill>
                <a:latin typeface="Courier New"/>
              </a:defRPr>
            </a:pPr>
            <a:r>
              <a:t>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0574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React + Vite + TypeScript (SPA)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651760"/>
            <a:ext cx="5029200" cy="822960"/>
          </a:xfrm>
          <a:prstGeom prst="rect">
            <a:avLst/>
          </a:prstGeom>
          <a:solidFill>
            <a:srgbClr val="111111"/>
          </a:solidFill>
          <a:ln w="381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2788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E600"/>
                </a:solidFill>
                <a:latin typeface="Courier New"/>
              </a:defRPr>
            </a:pPr>
            <a:r>
              <a:t>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063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Express + Zod + Better-Auth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657600"/>
            <a:ext cx="5029200" cy="822960"/>
          </a:xfrm>
          <a:prstGeom prst="rect">
            <a:avLst/>
          </a:prstGeom>
          <a:solidFill>
            <a:srgbClr val="111111"/>
          </a:solidFill>
          <a:ln w="381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7947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ourier New"/>
              </a:defRPr>
            </a:pPr>
            <a:r>
              <a:t>AI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0690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Gemini 2.5 Flash + Local Fallback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663440"/>
            <a:ext cx="5029200" cy="822960"/>
          </a:xfrm>
          <a:prstGeom prst="rect">
            <a:avLst/>
          </a:prstGeom>
          <a:solidFill>
            <a:srgbClr val="111111"/>
          </a:solidFill>
          <a:ln w="381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8006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ourier New"/>
              </a:defRPr>
            </a:pPr>
            <a:r>
              <a:t>DEPLOYMENT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074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Vercel + Cloud Run (Docker)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1645920"/>
            <a:ext cx="5029200" cy="3840480"/>
          </a:xfrm>
          <a:prstGeom prst="rect">
            <a:avLst/>
          </a:prstGeom>
          <a:solidFill>
            <a:srgbClr val="111111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urier New"/>
              </a:defRPr>
            </a:pPr>
            <a:r>
              <a:t>API ENDPOINTS (/api/v1):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2860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600"/>
                </a:solidFill>
                <a:latin typeface="Courier New"/>
              </a:defRPr>
            </a:pPr>
            <a:r>
              <a:t>&gt; POST /intake/analyze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6517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600"/>
                </a:solidFill>
                <a:latin typeface="Courier New"/>
              </a:defRPr>
            </a:pPr>
            <a:r>
              <a:t>&gt; POST /requests/confirm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0175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600"/>
                </a:solidFill>
                <a:latin typeface="Courier New"/>
              </a:defRPr>
            </a:pPr>
            <a:r>
              <a:t>&gt; POST /intake/import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3832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600"/>
                </a:solidFill>
                <a:latin typeface="Courier New"/>
              </a:defRPr>
            </a:pPr>
            <a:r>
              <a:t>&gt; GET  /clusters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74903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600"/>
                </a:solidFill>
                <a:latin typeface="Courier New"/>
              </a:defRPr>
            </a:pPr>
            <a:r>
              <a:t>&gt; POST /plans/compute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114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600"/>
                </a:solidFill>
                <a:latin typeface="Courier New"/>
              </a:defRPr>
            </a:pPr>
            <a:r>
              <a:t>&gt; POST /plans/:id/explain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4805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600"/>
                </a:solidFill>
                <a:latin typeface="Courier New"/>
              </a:defRPr>
            </a:pPr>
            <a:r>
              <a:t>&gt; POST /plans/:id/review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1371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1371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27432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E600"/>
                </a:solidFill>
                <a:latin typeface="Courier New"/>
              </a:defRPr>
            </a:pPr>
            <a:r>
              <a:t>STAGE CLEAR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ourier New"/>
              </a:defRPr>
            </a:pPr>
            <a:r>
              <a:t>Because priorities should come from evidence, not guesswork.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114800"/>
            <a:ext cx="5760720" cy="1097280"/>
          </a:xfrm>
          <a:prstGeom prst="rect">
            <a:avLst/>
          </a:prstGeom>
          <a:solidFill>
            <a:srgbClr val="111111"/>
          </a:solidFill>
          <a:ln w="38100">
            <a:solidFill>
              <a:srgbClr val="FF0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43891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003C"/>
                </a:solidFill>
                <a:latin typeface="Courier New"/>
              </a:defRPr>
            </a:pPr>
            <a:r>
              <a:t>github.com/ramnnn2006/civic-priorities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7548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t>MIT License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548640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548640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0560" y="548640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548640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0" y="557784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557784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557784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0560" y="557784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557784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63440" y="557784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566928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06240" y="566928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566928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0" y="576072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06240" y="576072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0" y="576072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89120" y="576072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80560" y="576072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576072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63440" y="576072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97680" y="585216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89120" y="585216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80560" y="585216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0" y="5852160"/>
            <a:ext cx="91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63840" y="5303520"/>
            <a:ext cx="91440" cy="914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55280" y="5303520"/>
            <a:ext cx="91440" cy="914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0" y="5394960"/>
            <a:ext cx="91440" cy="914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72400" y="5394960"/>
            <a:ext cx="91440" cy="914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98080" y="5486400"/>
            <a:ext cx="91440" cy="914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89520" y="5486400"/>
            <a:ext cx="91440" cy="914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98080" y="557784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89520" y="557784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863840" y="557784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55280" y="557784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406640" y="566928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98080" y="566928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89520" y="566928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0" y="566928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863840" y="566928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955280" y="566928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046720" y="566928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38160" y="566928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06640" y="576072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498080" y="576072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0" y="576072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80960" y="576072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863840" y="576072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955280" y="576072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046720" y="576072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38160" y="576072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498080" y="585216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89520" y="585216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955280" y="585216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46720" y="5852160"/>
            <a:ext cx="91440" cy="91440"/>
          </a:xfrm>
          <a:prstGeom prst="rect">
            <a:avLst/>
          </a:prstGeom>
          <a:solidFill>
            <a:srgbClr val="FF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